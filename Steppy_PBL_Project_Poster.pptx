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68880" y="228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b="1" sz="2500">
                <a:solidFill>
                  <a:srgbClr val="FFFFFF"/>
                </a:solidFill>
                <a:latin typeface="Arial"/>
              </a:rPr>
              <a:t>STEPPY: DISTRIBUTED FITNESS GAMIFICATION &amp; REAL-TIME ACTIVITY PLATFORM</a:t>
            </a:r>
            <a:endParaRPr lang="en-US" sz="3350" dirty="0"/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DE68A"/>
                </a:solidFill>
                <a:latin typeface="Calibri"/>
              </a:rPr>
              <a:t>Team ID: 25CS1302E-PBL-042  |  Section: S14  |  Student Lead: P. Shashe Preetham (2300030001)  |  Faculty Guide: Dr. K. Venkata Rao</a:t>
            </a:r>
          </a:p>
          <a:p>
            <a:r>
              <a:rPr sz="1150">
                <a:solidFill>
                  <a:srgbClr val="FEF3C7"/>
                </a:solidFill>
                <a:latin typeface="Calibri"/>
              </a:rPr>
              <a:t>Database Systems Engineering and Distributed Backend Development (25CS1302E)  |  KLH Bachupally Campus, CSE  |  PBL 2026-27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150" b="0">
                <a:solidFill>
                  <a:srgbClr val="1E293B"/>
                </a:solidFill>
                <a:latin typeface="Calibri"/>
              </a:rPr>
              <a:t>Steppy is a cross-platform distributed fitness gamification ecosystem built with Flutter, React 19, and Google Cloud Firestore. It converts physical movement into an engaging social experience via real-time step streaming, peer-to-peer challenges, tiered XP level progression, and virtual token rewards.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B45309"/>
                </a:solidFill>
                <a:latin typeface="Calibri"/>
              </a:rPr>
              <a:t>Main Outcome: </a:t>
            </a:r>
            <a:r>
              <a:rPr sz="1150" b="0">
                <a:solidFill>
                  <a:srgbClr val="1E293B"/>
                </a:solidFill>
                <a:latin typeface="Calibri"/>
              </a:rPr>
              <a:t>Outcome: Delivers low-latency (&lt;110ms) state replication across mobile and web with robust offline persistence, boosting long-term fitness habit retention through social accountability.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b="1" sz="1050">
                <a:solidFill>
                  <a:srgbClr val="BE185D"/>
                </a:solidFill>
                <a:latin typeface="Calibri"/>
              </a:rPr>
              <a:t>Problem: </a:t>
            </a:r>
            <a:r>
              <a:rPr sz="1050" b="0">
                <a:solidFill>
                  <a:srgbClr val="1E293B"/>
                </a:solidFill>
                <a:latin typeface="Calibri"/>
              </a:rPr>
              <a:t>Conventional fitness trackers function as passive, siloed logs with 65%+ 30-day user drop-off due to missing real-time peer engagement and fragile sync on intermittent networks.</a:t>
            </a:r>
            <a:endParaRPr lang="en-US" sz="1550" dirty="0"/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BE185D"/>
                </a:solidFill>
                <a:latin typeface="Calibri"/>
              </a:rPr>
              <a:t>Objective 1: </a:t>
            </a:r>
            <a:r>
              <a:rPr sz="1050" b="0">
                <a:solidFill>
                  <a:srgbClr val="1E293B"/>
                </a:solidFill>
                <a:latin typeface="Calibri"/>
              </a:rPr>
              <a:t>Engineer real-time step streaming bridging device sensors (HealthKit/Google Fit) with a distributed NoSQL backend.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BE185D"/>
                </a:solidFill>
                <a:latin typeface="Calibri"/>
              </a:rPr>
              <a:t>Objective 2: </a:t>
            </a:r>
            <a:r>
              <a:rPr sz="1050" b="0">
                <a:solidFill>
                  <a:srgbClr val="1E293B"/>
                </a:solidFill>
                <a:latin typeface="Calibri"/>
              </a:rPr>
              <a:t>Build a gamified challenge and live leaderboard module with sub-120ms real-time event updates.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BE185D"/>
                </a:solidFill>
                <a:latin typeface="Calibri"/>
              </a:rPr>
              <a:t>Objective 3: </a:t>
            </a:r>
            <a:r>
              <a:rPr sz="1050" b="0">
                <a:solidFill>
                  <a:srgbClr val="1E293B"/>
                </a:solidFill>
                <a:latin typeface="Calibri"/>
              </a:rPr>
              <a:t>Implement responsive cross-platform interfaces (Flutter mobile &amp; React/Tailwind web) with offline-first persistence.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BE185D"/>
                </a:solidFill>
                <a:latin typeface="Calibri"/>
              </a:rPr>
              <a:t>Scope: </a:t>
            </a:r>
            <a:r>
              <a:rPr sz="1050" b="0">
                <a:solidFill>
                  <a:srgbClr val="1E293B"/>
                </a:solidFill>
                <a:latin typeface="Calibri"/>
              </a:rPr>
              <a:t>End-to-end user auth, sensor ingestion, challenge lifecycle, live leaderboards, and virtual coin store.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Existing Fitness Systems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Steppy (Proposed System)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Data Architecture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75569"/>
                          </a:solidFill>
                          <a:latin typeface="Calibri"/>
                        </a:rPr>
                        <a:t>Siloed local DB or polling RDBMS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7A57"/>
                          </a:solidFill>
                          <a:latin typeface="Calibri"/>
                        </a:rPr>
                        <a:t>Distributed NoSQL (Firestore) multi-region cluster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State Replication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75569"/>
                          </a:solidFill>
                          <a:latin typeface="Calibri"/>
                        </a:rPr>
                        <a:t>Manual refresh / high latency (&gt;2s)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7A57"/>
                          </a:solidFill>
                          <a:latin typeface="Calibri"/>
                        </a:rPr>
                        <a:t>Bi-directional real-time snapshot streams (&lt;110ms)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Platform Coverage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75569"/>
                          </a:solidFill>
                          <a:latin typeface="Calibri"/>
                        </a:rPr>
                        <a:t>Single mobile OS / fragmented web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7A57"/>
                          </a:solidFill>
                          <a:latin typeface="Calibri"/>
                        </a:rPr>
                        <a:t>Unified cross-platform (Flutter mobile + React 19 web)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Social Dynamics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75569"/>
                          </a:solidFill>
                          <a:latin typeface="Calibri"/>
                        </a:rPr>
                        <a:t>Static post-workout summaries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7A57"/>
                          </a:solidFill>
                          <a:latin typeface="Calibri"/>
                        </a:rPr>
                        <a:t>Live head-to-head challenges &amp; dynamic XP leveling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Calibri"/>
                        </a:rPr>
                        <a:t>Offline Resilience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475569"/>
                          </a:solidFill>
                          <a:latin typeface="Calibri"/>
                        </a:rPr>
                        <a:t>Sync errors on network drops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07A57"/>
                          </a:solidFill>
                          <a:latin typeface="Calibri"/>
                        </a:rPr>
                        <a:t>Dual-tier local cache with automatic reconciliation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b="1" sz="1050">
                <a:solidFill>
                  <a:srgbClr val="15803D"/>
                </a:solidFill>
                <a:latin typeface="Calibri"/>
              </a:rPr>
              <a:t>Technical: </a:t>
            </a:r>
            <a:r>
              <a:rPr sz="1050" b="0">
                <a:solidFill>
                  <a:srgbClr val="1E293B"/>
                </a:solidFill>
                <a:latin typeface="Calibri"/>
              </a:rPr>
              <a:t>Built with production-grade open tooling (Flutter 3.x, React 19, TypeScript, Cloud Firestore). Sensor SDKs (HealthKit &amp; Health Connect) provide standardized platform telemetry. 100% serverless cloud backend guarantees 99.9% availability.</a:t>
            </a:r>
            <a:endParaRPr lang="en-US" sz="1550" dirty="0"/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5803D"/>
                </a:solidFill>
                <a:latin typeface="Calibri"/>
              </a:rPr>
              <a:t>Economic: </a:t>
            </a:r>
            <a:r>
              <a:rPr sz="1050" b="0">
                <a:solidFill>
                  <a:srgbClr val="1E293B"/>
                </a:solidFill>
                <a:latin typeface="Calibri"/>
              </a:rPr>
              <a:t>Entirely zero-cost infrastructure leveraging open-source toolchains. Firebase Spark tier grants 50k reads, 20k writes/day, and 1GB storage for free, perfectly covering academic demonstration and seamless pay-as-you-scale adoption.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5803D"/>
                </a:solidFill>
                <a:latin typeface="Calibri"/>
              </a:rPr>
              <a:t>Operational: </a:t>
            </a:r>
            <a:r>
              <a:rPr sz="1050" b="0">
                <a:solidFill>
                  <a:srgbClr val="1E293B"/>
                </a:solidFill>
                <a:latin typeface="Calibri"/>
              </a:rPr>
              <a:t>Consumer-grade mobile UX based on Figma specifications. Concentric progress rings, workout cards, and weekly calendar views ensure zero user learning curve and high habit retention across mobile and web.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15803D"/>
                </a:solidFill>
                <a:latin typeface="Calibri"/>
              </a:rPr>
              <a:t>Schedule: </a:t>
            </a:r>
            <a:r>
              <a:rPr sz="1050" b="0">
                <a:solidFill>
                  <a:srgbClr val="1E293B"/>
                </a:solidFill>
                <a:latin typeface="Calibri"/>
              </a:rPr>
              <a:t>Executed in 12-week semester sprint: W1-3 (SRS &amp; Schema Design), W4-7 (Mobile &amp; Web UI), W8-10 (Real-Time Streams &amp; Gamification), W11-12 (Testing, Security Auditing &amp; Release).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b="1" sz="1100">
                <a:solidFill>
                  <a:srgbClr val="0369A1"/>
                </a:solidFill>
                <a:latin typeface="Calibri"/>
              </a:rPr>
              <a:t>Front-End Mobile: </a:t>
            </a:r>
            <a:r>
              <a:rPr sz="1100" b="0">
                <a:solidFill>
                  <a:srgbClr val="1E293B"/>
                </a:solidFill>
                <a:latin typeface="Calibri"/>
              </a:rPr>
              <a:t>Flutter 3.x (Dart), Provider state management, fl_chart, flutter_svg, Health SDK.</a:t>
            </a:r>
            <a:endParaRPr lang="en-US" sz="1550" dirty="0"/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369A1"/>
                </a:solidFill>
                <a:latin typeface="Calibri"/>
              </a:rPr>
              <a:t>Front-End Web: </a:t>
            </a:r>
            <a:r>
              <a:rPr sz="1100" b="0">
                <a:solidFill>
                  <a:srgbClr val="1E293B"/>
                </a:solidFill>
                <a:latin typeface="Calibri"/>
              </a:rPr>
              <a:t>React 19, Vite 8, TypeScript 5.7, Tailwind CSS v4, Figma Make Design System.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369A1"/>
                </a:solidFill>
                <a:latin typeface="Calibri"/>
              </a:rPr>
              <a:t>Back-End &amp; APIs: </a:t>
            </a:r>
            <a:r>
              <a:rPr sz="1100" b="0">
                <a:solidFill>
                  <a:srgbClr val="1E293B"/>
                </a:solidFill>
                <a:latin typeface="Calibri"/>
              </a:rPr>
              <a:t>Google Firebase, Firebase Auth (OAuth 2.0 / JWT), Cloud Functions, FCM Push.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369A1"/>
                </a:solidFill>
                <a:latin typeface="Calibri"/>
              </a:rPr>
              <a:t>Database &amp; Storage: </a:t>
            </a:r>
            <a:r>
              <a:rPr sz="1100" b="0">
                <a:solidFill>
                  <a:srgbClr val="1E293B"/>
                </a:solidFill>
                <a:latin typeface="Calibri"/>
              </a:rPr>
              <a:t>Cloud Firestore (Distributed NoSQL Document Store), Local SQLite/Hive Cache.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0369A1"/>
                </a:solidFill>
                <a:latin typeface="Calibri"/>
              </a:rPr>
              <a:t>DevOps &amp; Tools: </a:t>
            </a:r>
            <a:r>
              <a:rPr sz="1100" b="0">
                <a:solidFill>
                  <a:srgbClr val="1E293B"/>
                </a:solidFill>
                <a:latin typeface="Calibri"/>
              </a:rPr>
              <a:t>Git &amp; GitHub, Postman, Android Studio, VS Code, Node.js, Chrome DevTools.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b="1" sz="1019">
                <a:solidFill>
                  <a:srgbClr val="B91C1C"/>
                </a:solidFill>
                <a:latin typeface="Calibri"/>
              </a:rPr>
              <a:t>Latency Testing: </a:t>
            </a:r>
            <a:r>
              <a:rPr sz="1019" b="0">
                <a:solidFill>
                  <a:srgbClr val="1E293B"/>
                </a:solidFill>
                <a:latin typeface="Calibri"/>
              </a:rPr>
              <a:t>Firestore document read/write latency clocked &lt;110ms with sub-120ms multi-client peer update propagation.</a:t>
            </a:r>
            <a:endParaRPr lang="en-US" sz="1550" dirty="0"/>
          </a:p>
          <a:p>
            <a:pPr>
              <a:spcAft>
                <a:spcPts val="400"/>
              </a:spcAft>
            </a:pPr>
            <a:r>
              <a:rPr b="1" sz="1019">
                <a:solidFill>
                  <a:srgbClr val="B91C1C"/>
                </a:solidFill>
                <a:latin typeface="Calibri"/>
              </a:rPr>
              <a:t>Security &amp; ACLs: </a:t>
            </a:r>
            <a:r>
              <a:rPr sz="1019" b="0">
                <a:solidFill>
                  <a:srgbClr val="1E293B"/>
                </a:solidFill>
                <a:latin typeface="Calibri"/>
              </a:rPr>
              <a:t>100% test pass on Firestore security rules. Unauthorized step injection and unauthorized challenge edits blocked.</a:t>
            </a:r>
          </a:p>
          <a:p>
            <a:pPr>
              <a:spcAft>
                <a:spcPts val="200"/>
              </a:spcAft>
            </a:pPr>
            <a:r>
              <a:rPr b="1" sz="1019">
                <a:solidFill>
                  <a:srgbClr val="B91C1C"/>
                </a:solidFill>
                <a:latin typeface="Calibri"/>
              </a:rPr>
              <a:t>Offline Resilience: </a:t>
            </a:r>
            <a:r>
              <a:rPr sz="1019" b="0">
                <a:solidFill>
                  <a:srgbClr val="1E293B"/>
                </a:solidFill>
                <a:latin typeface="Calibri"/>
              </a:rPr>
              <a:t>Smooth local cache fallback with zero data corruption upon automatic reconnect.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b="1" sz="1019">
                <a:solidFill>
                  <a:srgbClr val="4D7C0F"/>
                </a:solidFill>
                <a:latin typeface="Calibri"/>
              </a:rPr>
              <a:t>Outcome: </a:t>
            </a:r>
            <a:r>
              <a:rPr sz="1019" b="0">
                <a:solidFill>
                  <a:srgbClr val="1E293B"/>
                </a:solidFill>
                <a:latin typeface="Calibri"/>
              </a:rPr>
              <a:t>Successfully architected and deployed Steppy, a complete distributed fitness gamification platform fulfilling all PBL course deliverables.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b="1" sz="1019">
                <a:solidFill>
                  <a:srgbClr val="4D7C0F"/>
                </a:solidFill>
                <a:latin typeface="Calibri"/>
              </a:rPr>
              <a:t>Impact: </a:t>
            </a:r>
            <a:r>
              <a:rPr sz="1019" b="0">
                <a:solidFill>
                  <a:srgbClr val="1E293B"/>
                </a:solidFill>
                <a:latin typeface="Calibri"/>
              </a:rPr>
              <a:t>Proved that reactive NoSQL document streaming coupled with game psychology (XP, badges, store items) substantially increases user engagement and fitness routine adherence.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b="1" sz="1019">
                <a:solidFill>
                  <a:srgbClr val="A21CAF"/>
                </a:solidFill>
                <a:latin typeface="Calibri"/>
              </a:rPr>
              <a:t>1. Wearable BLE Sync: </a:t>
            </a:r>
            <a:r>
              <a:rPr sz="1019" b="0">
                <a:solidFill>
                  <a:srgbClr val="1E293B"/>
                </a:solidFill>
                <a:latin typeface="Calibri"/>
              </a:rPr>
              <a:t>Direct Bluetooth Low Energy integration with WearOS and Apple Watch sensors.</a:t>
            </a:r>
            <a:endParaRPr lang="en-US" sz="1550" dirty="0"/>
          </a:p>
          <a:p>
            <a:pPr>
              <a:spcAft>
                <a:spcPts val="300"/>
              </a:spcAft>
            </a:pPr>
            <a:r>
              <a:rPr b="1" sz="1019">
                <a:solidFill>
                  <a:srgbClr val="A21CAF"/>
                </a:solidFill>
                <a:latin typeface="Calibri"/>
              </a:rPr>
              <a:t>2. On-Device Edge ML: </a:t>
            </a:r>
            <a:r>
              <a:rPr sz="1019" b="0">
                <a:solidFill>
                  <a:srgbClr val="1E293B"/>
                </a:solidFill>
                <a:latin typeface="Calibri"/>
              </a:rPr>
              <a:t>TensorFlow Lite model for adaptive goal calibration and fatigue risk detection.</a:t>
            </a:r>
          </a:p>
          <a:p>
            <a:pPr>
              <a:spcAft>
                <a:spcPts val="200"/>
              </a:spcAft>
            </a:pPr>
            <a:r>
              <a:rPr b="1" sz="1019">
                <a:solidFill>
                  <a:srgbClr val="A21CAF"/>
                </a:solidFill>
                <a:latin typeface="Calibri"/>
              </a:rPr>
              <a:t>3. Social Guilds: </a:t>
            </a:r>
            <a:r>
              <a:rPr sz="1019" b="0">
                <a:solidFill>
                  <a:srgbClr val="1E293B"/>
                </a:solidFill>
                <a:latin typeface="Calibri"/>
              </a:rPr>
              <a:t>Campus-wide guild tournament system with group step multipliers and NFT rewards.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pPr indent="0" marL="0">
              <a:buNone/>
            </a:pPr>
            <a:r>
              <a:rPr sz="980" b="0">
                <a:solidFill>
                  <a:srgbClr val="475569"/>
                </a:solidFill>
                <a:latin typeface="Calibri"/>
              </a:rPr>
              <a:t>References: [1] Google Cloud Firestore, Distributed NoSQL Database Architecture &amp; Real-Time Streams, 2026.   [2] Flutter Foundation, Building Reactive Cross-Platform Client Applications, 2026.   [3] J. Hamari et al., "Does Gamification Work? A Literature Review on Motivating Health Behaviors," Computers in Human Behavior.</a:t>
            </a:r>
            <a:endParaRPr lang="en-US" sz="1100" dirty="0"/>
          </a:p>
        </p:txBody>
      </p:sp>
      <p:pic>
        <p:nvPicPr>
          <p:cNvPr id="45" name="Picture 44" descr="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1280160" cy="1280160"/>
          </a:xfrm>
          <a:prstGeom prst="rect">
            <a:avLst/>
          </a:prstGeom>
        </p:spPr>
      </p:pic>
      <p:pic>
        <p:nvPicPr>
          <p:cNvPr id="46" name="Picture 45" descr="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983480"/>
            <a:ext cx="4572000" cy="2148840"/>
          </a:xfrm>
          <a:prstGeom prst="rect">
            <a:avLst/>
          </a:prstGeom>
        </p:spPr>
      </p:pic>
      <p:pic>
        <p:nvPicPr>
          <p:cNvPr id="47" name="Picture 46" descr="er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7863840"/>
            <a:ext cx="4572000" cy="1920240"/>
          </a:xfrm>
          <a:prstGeom prst="rect">
            <a:avLst/>
          </a:prstGeom>
        </p:spPr>
      </p:pic>
      <p:pic>
        <p:nvPicPr>
          <p:cNvPr id="48" name="Picture 47" descr="screenshot1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0515600"/>
            <a:ext cx="2212848" cy="1783080"/>
          </a:xfrm>
          <a:prstGeom prst="rect">
            <a:avLst/>
          </a:prstGeom>
        </p:spPr>
      </p:pic>
      <p:pic>
        <p:nvPicPr>
          <p:cNvPr id="49" name="Picture 48" descr="screenshot2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0515600"/>
            <a:ext cx="2212848" cy="1783080"/>
          </a:xfrm>
          <a:prstGeom prst="rect">
            <a:avLst/>
          </a:prstGeom>
        </p:spPr>
      </p:pic>
      <p:pic>
        <p:nvPicPr>
          <p:cNvPr id="50" name="Picture 49" descr="qr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0616" y="14264640"/>
            <a:ext cx="822960" cy="822960"/>
          </a:xfrm>
          <a:prstGeom prst="rect">
            <a:avLst/>
          </a:prstGeom>
        </p:spPr>
      </p:pic>
      <p:pic>
        <p:nvPicPr>
          <p:cNvPr id="51" name="Picture 50" descr="klh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11480"/>
            <a:ext cx="2011680" cy="105156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983480"/>
            <a:ext cx="4572000" cy="214884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7863840"/>
            <a:ext cx="4572000" cy="192024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0515600"/>
            <a:ext cx="2212848" cy="178308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0515600"/>
            <a:ext cx="2212848" cy="178308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0616" y="142646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